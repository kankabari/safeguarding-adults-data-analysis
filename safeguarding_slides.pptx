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70"/>
  </p:normalViewPr>
  <p:slideViewPr>
    <p:cSldViewPr snapToGrid="0">
      <p:cViewPr varScale="1">
        <p:scale>
          <a:sx n="121" d="100"/>
          <a:sy n="121" d="100"/>
        </p:scale>
        <p:origin x="20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7FCE-E7B0-0483-BD26-DA68C62A1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14BEE-D953-7D4B-EBD5-50704FA09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69C91-21CF-8F2A-D6A5-862776DA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8FD57-CC5F-47CE-3E43-7C2C800BE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CAE91-C917-6B5E-A5E2-59903A1D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5345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2C72-C9CC-7F2B-745E-B459C80D2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0AAB3-E48A-61FF-6635-F8284939D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C5141-908D-1C20-C012-F675DACB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200E3-07F1-1972-64C1-7F33BCB97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11627-902B-C5B5-C75F-65F176CB7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49633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84B8A-C5F0-8FDC-55DB-74C23134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AC4D0-E603-3139-2BB3-B2DA7BBFD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77A7E-CDB5-402F-370E-2F5A479E4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EB4B2-2AE7-22B8-8A2C-548E81B5C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E4502-7C0E-567B-6C91-F6A0F956B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3324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E3AD1-12DD-BB32-7E78-67D83882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03812-79B0-BD25-B1ED-B7C87D125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68C0A-65E9-C4A2-1FBF-D8FBF1727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17CE6-501D-4822-40C6-673C01402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909A6-6055-BD08-45DE-AED7F7102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F3DE3-37BC-DBBC-53E2-2259CB1B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9799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D32C-7505-9C84-72A4-19383E00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A3F52-DEC3-0FD7-BF78-4D99C1BAA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D6EDB-E501-FC34-BF53-92566CECE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0CCAC-F9CE-BF42-90E7-5A712542A4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D1F4F2-DE38-7C1C-1FAC-DC6ED03EC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B6FF6-9784-7FD2-9C40-256E374D4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3339CD-3811-06DC-BDFC-94F24782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CD0A0-4ABA-BB5D-FF0C-27707F92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4957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F3CF-9884-6836-6FF9-2C398E313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4D54D9-C561-B35F-141D-C055B787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66DFF-590E-9EFB-8146-3628AE14C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5182B-FDA4-C98D-5D01-EF502DF5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6803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61C47-95DF-DDE5-4B6F-8EDC8D7B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91646A-0708-DADD-DA37-9BA683221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AC51-6ABF-D1B7-C34F-6BA687ED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43601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5FF3-7CD3-3C3E-906B-AC16276D7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69F56-0F1A-7DCD-B760-ED901E1DA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095AA-508B-46B4-0ED4-4CDB57B7D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0DB26-DB18-094C-249F-EE58A6F64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143BC-BAC5-06D4-B58E-E9175FC3F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0C14F-D8F3-680B-69CA-3B6E5EF4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2850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D76A2-39DB-92C7-C43E-4D5E0E12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F7727-63C5-6BD1-E33A-7B4E6983BA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C2472-8430-15B9-54FE-1BCD8EA46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D8AAF-F083-84EE-BE31-B92E0494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4619D-6BC8-B1F7-A364-629B8F34A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DF239-1F77-A616-C3C6-E7FDD1B3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4890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EF24-C5EA-9978-D22E-3FACA9640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EFF2C-330A-510E-DE74-0DB6F31D2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695A8-2C8A-438B-6EA8-613AAAE8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59FA-0168-F3EB-A778-999047D7A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36844-2838-7E81-1ED8-3B5A6E99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62498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3B3C55-8E84-E19B-746B-B61136232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BE9E2-E935-04B3-C92B-735936576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274B-A73A-73F8-686A-C6488032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1F52A-D96D-4E3D-2ACE-3DAB2F9F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5BA42-9D76-AE1B-76B1-F1DD078E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0452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83EDE-665A-8396-1F18-0CA38836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FC3CA-C5C7-9EB1-5EB6-CDD1575E2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F520D-2C7B-91BD-CD04-3356CDD5B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FFB52-AFCE-574D-8D46-1EB8D3F53F02}" type="datetimeFigureOut">
              <a:rPr lang="en-NG" smtClean="0"/>
              <a:t>17/10/2025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9A939-B7BE-CB49-1278-570716697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F907E-7367-B48B-1FE2-5C965C085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AFF4D-271B-454D-BF7D-354FD2D701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7438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D9F4-8790-18B5-BF5A-F2911E3F8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84203"/>
          </a:xfrm>
        </p:spPr>
        <p:txBody>
          <a:bodyPr>
            <a:normAutofit/>
          </a:bodyPr>
          <a:lstStyle/>
          <a:p>
            <a:r>
              <a:rPr lang="en-GB" sz="4800" dirty="0">
                <a:latin typeface="+mn-lt"/>
                <a:cs typeface="Calibri" panose="020F0502020204030204" pitchFamily="34" charset="0"/>
              </a:rPr>
              <a:t>Safeguarding Adults Collection - Key Findings</a:t>
            </a:r>
            <a:endParaRPr lang="en-NG" sz="48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F272E-234E-3F96-C459-2A6F9E743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3655"/>
            <a:ext cx="9144000" cy="1840375"/>
          </a:xfrm>
        </p:spPr>
        <p:txBody>
          <a:bodyPr>
            <a:normAutofit fontScale="92500" lnSpcReduction="10000"/>
          </a:bodyPr>
          <a:lstStyle/>
          <a:p>
            <a:r>
              <a:rPr lang="en-NG" dirty="0"/>
              <a:t>Presented by:</a:t>
            </a:r>
          </a:p>
          <a:p>
            <a:r>
              <a:rPr lang="en-NG" dirty="0"/>
              <a:t>Victor Kabari KANEE</a:t>
            </a:r>
          </a:p>
          <a:p>
            <a:endParaRPr lang="en-NG" dirty="0"/>
          </a:p>
          <a:p>
            <a:pPr algn="l"/>
            <a:endParaRPr lang="en-NG" dirty="0"/>
          </a:p>
          <a:p>
            <a:pPr algn="l"/>
            <a:r>
              <a:rPr lang="en-NG" sz="1300" dirty="0"/>
              <a:t>23-07-2025</a:t>
            </a:r>
          </a:p>
        </p:txBody>
      </p:sp>
    </p:spTree>
    <p:extLst>
      <p:ext uri="{BB962C8B-B14F-4D97-AF65-F5344CB8AC3E}">
        <p14:creationId xmlns:p14="http://schemas.microsoft.com/office/powerpoint/2010/main" val="2766818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539B-0806-5530-81AC-3C3C39493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008" y="81023"/>
            <a:ext cx="3594537" cy="1064871"/>
          </a:xfrm>
        </p:spPr>
        <p:txBody>
          <a:bodyPr/>
          <a:lstStyle/>
          <a:p>
            <a:pPr algn="ctr"/>
            <a:r>
              <a:rPr lang="en-NG" b="1" dirty="0">
                <a:latin typeface="+mn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21D31-843D-8E56-8262-DF4259F1A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062"/>
            <a:ext cx="10515600" cy="492935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1800" dirty="0"/>
              <a:t>This presentation shares key findings from the Safeguarding Adults Collection for the latest reporting year. It looks at cases where concerns were raised or enquiries were carried out.</a:t>
            </a:r>
          </a:p>
          <a:p>
            <a:pPr marL="0" lvl="0" indent="0">
              <a:buNone/>
            </a:pPr>
            <a:endParaRPr lang="en-GB" sz="1800" dirty="0"/>
          </a:p>
          <a:p>
            <a:pPr marL="0" lvl="0" indent="0">
              <a:buNone/>
            </a:pPr>
            <a:r>
              <a:rPr lang="en-GB" sz="1800" dirty="0"/>
              <a:t>The data is grouped into four areas:</a:t>
            </a:r>
          </a:p>
          <a:p>
            <a:pPr marL="0" lvl="0" indent="0">
              <a:buNone/>
            </a:pPr>
            <a:endParaRPr lang="en-GB" sz="1800" dirty="0"/>
          </a:p>
          <a:p>
            <a:pPr lvl="0"/>
            <a:r>
              <a:rPr lang="en-GB" sz="1800" dirty="0"/>
              <a:t>Demographics – Age, gender, ethnicity, and support needs of the individuals.</a:t>
            </a:r>
          </a:p>
          <a:p>
            <a:pPr lvl="0"/>
            <a:r>
              <a:rPr lang="en-GB" sz="1800" dirty="0"/>
              <a:t>Case Details – What kind of risk was involved, where it happened, and who was responsible.</a:t>
            </a:r>
          </a:p>
          <a:p>
            <a:pPr lvl="0"/>
            <a:r>
              <a:rPr lang="en-GB" sz="1800" dirty="0"/>
              <a:t>Mental Capacity – Whether individuals could make decisions about their safety.</a:t>
            </a:r>
          </a:p>
          <a:p>
            <a:pPr lvl="0"/>
            <a:r>
              <a:rPr lang="en-GB" sz="1800" dirty="0"/>
              <a:t>Making Safeguarding Personal (MSP) – Whether people were asked what they wanted and if those outcomes were achieved.</a:t>
            </a:r>
          </a:p>
          <a:p>
            <a:pPr lvl="0"/>
            <a:endParaRPr lang="en-GB" sz="1800" dirty="0"/>
          </a:p>
          <a:p>
            <a:pPr marL="0" lvl="0" indent="0">
              <a:buNone/>
            </a:pPr>
            <a:r>
              <a:rPr lang="en-GB" sz="1800" dirty="0"/>
              <a:t>The goal is to spot patterns and improve how safeguarding is handled.</a:t>
            </a:r>
          </a:p>
          <a:p>
            <a:pPr marL="0" indent="0">
              <a:buNone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953603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2612-D2D7-D7BE-3315-9BCC18092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173"/>
            <a:ext cx="10515600" cy="787078"/>
          </a:xfrm>
        </p:spPr>
        <p:txBody>
          <a:bodyPr>
            <a:normAutofit fontScale="90000"/>
          </a:bodyPr>
          <a:lstStyle/>
          <a:p>
            <a:r>
              <a:rPr lang="en-NG" b="1" dirty="0"/>
              <a:t>Who is Affected? – </a:t>
            </a:r>
            <a:r>
              <a:rPr lang="en-NG" b="1" i="1" dirty="0"/>
              <a:t>Demographic Breakdown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2172C4-DCA4-C4F7-8042-422FFA9B2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6952"/>
            <a:ext cx="10515600" cy="5210011"/>
          </a:xfrm>
        </p:spPr>
        <p:txBody>
          <a:bodyPr>
            <a:normAutofit/>
          </a:bodyPr>
          <a:lstStyle/>
          <a:p>
            <a:r>
              <a:rPr lang="en-NG" sz="1800" dirty="0"/>
              <a:t>There’s a high rate of concerns raised in the youngest age group (18-64) at 45%, but the majority involved older adults from 65-95+ with a combined 55%.</a:t>
            </a:r>
          </a:p>
          <a:p>
            <a:pPr marL="0" indent="0">
              <a:buNone/>
            </a:pPr>
            <a:endParaRPr lang="en-NG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746945-0DF5-C176-BBDE-591769609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33" y="1545022"/>
            <a:ext cx="9080938" cy="496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3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271C5-59AD-7911-5444-D3D07285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173"/>
            <a:ext cx="10880834" cy="576864"/>
          </a:xfrm>
        </p:spPr>
        <p:txBody>
          <a:bodyPr>
            <a:noAutofit/>
          </a:bodyPr>
          <a:lstStyle/>
          <a:p>
            <a:r>
              <a:rPr lang="en-NG" b="1" dirty="0"/>
              <a:t>Who is Affected? – </a:t>
            </a:r>
            <a:r>
              <a:rPr lang="en-NG" b="1" i="1" dirty="0"/>
              <a:t>Demographic Breakdown</a:t>
            </a:r>
            <a:endParaRPr lang="en-NG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15D7A5-E790-872C-93E8-14E7E56B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217"/>
            <a:ext cx="10515600" cy="5328745"/>
          </a:xfrm>
        </p:spPr>
        <p:txBody>
          <a:bodyPr>
            <a:normAutofit/>
          </a:bodyPr>
          <a:lstStyle/>
          <a:p>
            <a:r>
              <a:rPr lang="en-NG" sz="1800" dirty="0"/>
              <a:t>There’s a noticeable rise in safeguarding concerns in both genders, but the higher proportion are related to females compared to males. </a:t>
            </a:r>
          </a:p>
          <a:p>
            <a:pPr marL="0" indent="0">
              <a:buNone/>
            </a:pPr>
            <a:endParaRPr lang="en-NG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403E5C-0556-C7C9-206C-BBCE8624E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170" y="1366345"/>
            <a:ext cx="7772400" cy="522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73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C935F-02FA-BFF7-65CE-2ABF3D72B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598"/>
            <a:ext cx="10642922" cy="588440"/>
          </a:xfrm>
        </p:spPr>
        <p:txBody>
          <a:bodyPr>
            <a:noAutofit/>
          </a:bodyPr>
          <a:lstStyle/>
          <a:p>
            <a:r>
              <a:rPr lang="en-NG" b="1" dirty="0"/>
              <a:t>Who is Affected? – </a:t>
            </a:r>
            <a:r>
              <a:rPr lang="en-NG" b="1" i="1" dirty="0"/>
              <a:t>Demographic Breakdown</a:t>
            </a:r>
            <a:endParaRPr lang="en-NG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70B86B-9777-A25C-3EEA-C0445B2B2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1337"/>
            <a:ext cx="10515600" cy="5325625"/>
          </a:xfrm>
        </p:spPr>
        <p:txBody>
          <a:bodyPr>
            <a:normAutofit/>
          </a:bodyPr>
          <a:lstStyle/>
          <a:p>
            <a:r>
              <a:rPr lang="en-NG" sz="1800" dirty="0"/>
              <a:t>Most individuals with safeguarding concerns identified as White British.</a:t>
            </a:r>
          </a:p>
          <a:p>
            <a:pPr marL="0" indent="0">
              <a:buNone/>
            </a:pPr>
            <a:endParaRPr lang="en-NG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48B8DE-2F6D-736B-3C51-2F9C11756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696" y="1376855"/>
            <a:ext cx="9325304" cy="512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24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5BF9-7DBA-1B72-2BA8-4AB19DAE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486"/>
            <a:ext cx="10515600" cy="1037834"/>
          </a:xfrm>
        </p:spPr>
        <p:txBody>
          <a:bodyPr>
            <a:normAutofit/>
          </a:bodyPr>
          <a:lstStyle/>
          <a:p>
            <a:r>
              <a:rPr lang="en-NG" b="1" dirty="0"/>
              <a:t>Safeguarding Concerns and Enquiries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89016-0BFA-A334-B2F9-198C9F627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8195"/>
            <a:ext cx="10515600" cy="5042643"/>
          </a:xfrm>
        </p:spPr>
        <p:txBody>
          <a:bodyPr/>
          <a:lstStyle/>
          <a:p>
            <a:r>
              <a:rPr lang="en-NG" sz="1800" dirty="0"/>
              <a:t>Of all the safeguarding concerns reported, only 5.3% progressed to enquiries.</a:t>
            </a:r>
          </a:p>
          <a:p>
            <a:endParaRPr lang="en-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C3BEBE-1C1C-6AC4-C898-161FAB2BB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53" y="1718873"/>
            <a:ext cx="6116362" cy="504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26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A52B-2694-2941-09F8-C308FAD40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682655" cy="861848"/>
          </a:xfrm>
        </p:spPr>
        <p:txBody>
          <a:bodyPr/>
          <a:lstStyle/>
          <a:p>
            <a:r>
              <a:rPr lang="en-NG" b="1" dirty="0"/>
              <a:t>What Kind of Risk was Involved?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EFD5A2-B75D-16A8-474D-AEB4E9FC8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847"/>
            <a:ext cx="10515600" cy="5193115"/>
          </a:xfrm>
        </p:spPr>
        <p:txBody>
          <a:bodyPr>
            <a:normAutofit/>
          </a:bodyPr>
          <a:lstStyle/>
          <a:p>
            <a:r>
              <a:rPr lang="en-NG" sz="1800" dirty="0"/>
              <a:t>The most common types of risks are neglect and physical abuse.</a:t>
            </a:r>
          </a:p>
          <a:p>
            <a:r>
              <a:rPr lang="en-NG" sz="1800" dirty="0"/>
              <a:t>The most frequent sources of risks are known individuals and service providers.</a:t>
            </a:r>
          </a:p>
          <a:p>
            <a:pPr marL="0" indent="0">
              <a:buNone/>
            </a:pPr>
            <a:endParaRPr lang="en-NG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B4AAD1-EC62-05E0-7DCA-B37DD878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291" y="1713054"/>
            <a:ext cx="9579015" cy="489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69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952A-6370-F1C5-0B63-E7094232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145"/>
            <a:ext cx="10515600" cy="714703"/>
          </a:xfrm>
        </p:spPr>
        <p:txBody>
          <a:bodyPr/>
          <a:lstStyle/>
          <a:p>
            <a:r>
              <a:rPr lang="en-NG" b="1" dirty="0"/>
              <a:t>Where it Happened?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431FD-8371-F2E7-166F-ECB6BC687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5931"/>
            <a:ext cx="10515600" cy="5231032"/>
          </a:xfrm>
        </p:spPr>
        <p:txBody>
          <a:bodyPr>
            <a:normAutofit/>
          </a:bodyPr>
          <a:lstStyle/>
          <a:p>
            <a:r>
              <a:rPr lang="en-NG" sz="1800" dirty="0"/>
              <a:t>Most safeguarding risks occur in the concerned individual’s home and at care homes (nursing &amp; residential)</a:t>
            </a:r>
          </a:p>
          <a:p>
            <a:r>
              <a:rPr lang="en-NG" sz="1800" dirty="0"/>
              <a:t>Neglect, physical abuse, psychological abuse, financial abuse, and domestic abuse are more common at own home.</a:t>
            </a:r>
          </a:p>
          <a:p>
            <a:pPr marL="0" indent="0">
              <a:buNone/>
            </a:pPr>
            <a:endParaRPr lang="en-NG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1BF66-7036-5A11-C125-F6EA4C4EC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33" y="1889071"/>
            <a:ext cx="10131972" cy="472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55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50CE-B6BE-1D65-A349-6F4BBB24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126"/>
            <a:ext cx="10515600" cy="777764"/>
          </a:xfrm>
        </p:spPr>
        <p:txBody>
          <a:bodyPr>
            <a:normAutofit/>
          </a:bodyPr>
          <a:lstStyle/>
          <a:p>
            <a:r>
              <a:rPr lang="en-NG" b="1" dirty="0"/>
              <a:t>Was the Risk Addressed?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048B9-4812-D47E-A518-237A1D9C6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8993"/>
            <a:ext cx="10515600" cy="5167970"/>
          </a:xfrm>
        </p:spPr>
        <p:txBody>
          <a:bodyPr/>
          <a:lstStyle/>
          <a:p>
            <a:r>
              <a:rPr lang="en-NG" sz="1800" dirty="0"/>
              <a:t>On all concerns reported, risks were identified 87.5% of the time.</a:t>
            </a:r>
          </a:p>
          <a:p>
            <a:r>
              <a:rPr lang="en-NG" sz="1800" dirty="0"/>
              <a:t>In these scenarios, action was taken literally everytime (98%). </a:t>
            </a:r>
          </a:p>
          <a:p>
            <a:pPr marL="0" indent="0">
              <a:buNone/>
            </a:pPr>
            <a:endParaRPr lang="en-NG" sz="1800" dirty="0"/>
          </a:p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8F19E-B0FE-DBFC-5618-CDFC3285D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6448"/>
            <a:ext cx="10250214" cy="452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42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A46C-F3BB-64D7-F616-44B14B1F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594"/>
            <a:ext cx="10515600" cy="840828"/>
          </a:xfrm>
        </p:spPr>
        <p:txBody>
          <a:bodyPr/>
          <a:lstStyle/>
          <a:p>
            <a:r>
              <a:rPr lang="en-NG" b="1" dirty="0"/>
              <a:t>What was the Risk Assessment Outcome?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A8A6C-1090-6F0E-7474-DEF59D10C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0014"/>
            <a:ext cx="10515600" cy="5146949"/>
          </a:xfrm>
        </p:spPr>
        <p:txBody>
          <a:bodyPr>
            <a:normAutofit/>
          </a:bodyPr>
          <a:lstStyle/>
          <a:p>
            <a:r>
              <a:rPr lang="en-NG" sz="1800" dirty="0"/>
              <a:t>In cases of identified risks; only 30% were removed, 50% were reduced, and 20% of the risks remained.</a:t>
            </a:r>
          </a:p>
          <a:p>
            <a:pPr marL="0" indent="0">
              <a:buNone/>
            </a:pPr>
            <a:endParaRPr lang="en-NG" sz="1800" dirty="0"/>
          </a:p>
          <a:p>
            <a:pPr marL="0" indent="0">
              <a:buNone/>
            </a:pPr>
            <a:endParaRPr lang="en-NG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F11746-3955-DE03-724E-9207EB91C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382" y="1723696"/>
            <a:ext cx="9080939" cy="470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698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7C7C9-E591-C1B1-AA25-DD2AE87A2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897"/>
            <a:ext cx="10515600" cy="844951"/>
          </a:xfrm>
        </p:spPr>
        <p:txBody>
          <a:bodyPr/>
          <a:lstStyle/>
          <a:p>
            <a:r>
              <a:rPr lang="en-NG" b="1" dirty="0"/>
              <a:t>Mental Capacity in Concluded Enquiries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85B86-8069-08B9-8EC7-69CB9B7F0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871"/>
            <a:ext cx="10515600" cy="5112092"/>
          </a:xfrm>
        </p:spPr>
        <p:txBody>
          <a:bodyPr>
            <a:normAutofit/>
          </a:bodyPr>
          <a:lstStyle/>
          <a:p>
            <a:r>
              <a:rPr lang="en-GB" sz="1800" dirty="0"/>
              <a:t>Most individuals were assessed as having capacity, especially those aged 18–64, while those aged 85–94 showed higher rates of lacking capacity or needing support. </a:t>
            </a:r>
          </a:p>
          <a:p>
            <a:r>
              <a:rPr lang="en-GB" sz="1800" dirty="0"/>
              <a:t>However, there is a noticeable presence of “not known” and “lacked capacity” across all age groups.</a:t>
            </a:r>
            <a:endParaRPr lang="en-NG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B43AC-858F-5371-4027-952829236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875" y="2186151"/>
            <a:ext cx="9438291" cy="445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47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2BA4-3FBA-4CB3-F231-F5270A4F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594"/>
            <a:ext cx="10515600" cy="1156138"/>
          </a:xfrm>
        </p:spPr>
        <p:txBody>
          <a:bodyPr>
            <a:normAutofit fontScale="90000"/>
          </a:bodyPr>
          <a:lstStyle/>
          <a:p>
            <a:r>
              <a:rPr lang="en-NG" b="1" dirty="0"/>
              <a:t>Was Support Provided When an Adult Lacked Capacity?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24DDF-07B6-A60D-BB2F-9FBAF479A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814"/>
            <a:ext cx="10515600" cy="4842149"/>
          </a:xfrm>
        </p:spPr>
        <p:txBody>
          <a:bodyPr>
            <a:normAutofit/>
          </a:bodyPr>
          <a:lstStyle/>
          <a:p>
            <a:r>
              <a:rPr lang="en-NG" sz="1800" dirty="0"/>
              <a:t>Adequate support was provided across all age groups except in group 75-84, only 33% of individuals in this group received support when they lacked capacity.</a:t>
            </a:r>
          </a:p>
          <a:p>
            <a:pPr marL="0" indent="0">
              <a:buNone/>
            </a:pPr>
            <a:endParaRPr lang="en-NG" sz="1800" dirty="0"/>
          </a:p>
          <a:p>
            <a:pPr marL="0" indent="0">
              <a:buNone/>
            </a:pPr>
            <a:endParaRPr lang="en-NG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DAE03-749C-6B4D-AC56-9BEA50E56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303" y="2154621"/>
            <a:ext cx="9049407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29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B09D2-1739-3AB8-3FCE-DF5CEE9B7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4"/>
            <a:ext cx="10515600" cy="725213"/>
          </a:xfrm>
        </p:spPr>
        <p:txBody>
          <a:bodyPr/>
          <a:lstStyle/>
          <a:p>
            <a:r>
              <a:rPr lang="en-NG" b="1" dirty="0"/>
              <a:t>Were Individuals Involved in Decis</a:t>
            </a:r>
            <a:r>
              <a:rPr lang="en-GB" b="1" dirty="0"/>
              <a:t>i</a:t>
            </a:r>
            <a:r>
              <a:rPr lang="en-NG" b="1" dirty="0"/>
              <a:t>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82B6-4F60-7C82-3580-45D3F55F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2869"/>
            <a:ext cx="10515600" cy="5294094"/>
          </a:xfrm>
        </p:spPr>
        <p:txBody>
          <a:bodyPr>
            <a:normAutofit/>
          </a:bodyPr>
          <a:lstStyle/>
          <a:p>
            <a:r>
              <a:rPr lang="en-GB" sz="1800" dirty="0"/>
              <a:t>Most individuals were consulted and able to express desired outcomes, especially in the 18–64 and 75–84 age groups, indicating good engagement across age groups.</a:t>
            </a:r>
          </a:p>
          <a:p>
            <a:pPr marL="0" indent="0">
              <a:buNone/>
            </a:pPr>
            <a:endParaRPr lang="en-NG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E5D22-03F6-3DF4-66FB-C34B90FF6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99" y="1713186"/>
            <a:ext cx="9890234" cy="483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52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E97BD-3019-D285-7FAB-060C54301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4084"/>
            <a:ext cx="10985939" cy="683172"/>
          </a:xfrm>
        </p:spPr>
        <p:txBody>
          <a:bodyPr>
            <a:normAutofit fontScale="90000"/>
          </a:bodyPr>
          <a:lstStyle/>
          <a:p>
            <a:r>
              <a:rPr lang="en-NG" b="1" dirty="0"/>
              <a:t>Were Expressed Desired Outcomes Achievable?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F0626-A15A-267B-28A0-A2E824085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0828"/>
            <a:ext cx="10515600" cy="5336135"/>
          </a:xfrm>
        </p:spPr>
        <p:txBody>
          <a:bodyPr>
            <a:normAutofit/>
          </a:bodyPr>
          <a:lstStyle/>
          <a:p>
            <a:r>
              <a:rPr lang="en-NG" sz="1800" dirty="0"/>
              <a:t>Across all age groups, there is an obvious success rate of achieving desired outcomes when views were sought, especially in the </a:t>
            </a:r>
            <a:r>
              <a:rPr lang="en-GB" sz="1800" dirty="0"/>
              <a:t>o</a:t>
            </a:r>
            <a:r>
              <a:rPr lang="en-NG" sz="1800" dirty="0"/>
              <a:t>lder age groups from 65-94.</a:t>
            </a:r>
          </a:p>
          <a:p>
            <a:pPr marL="0" indent="0">
              <a:buNone/>
            </a:pPr>
            <a:endParaRPr lang="en-NG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1099A3-8DFB-F34A-BFAD-1B304DE0A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81" y="1731420"/>
            <a:ext cx="9785131" cy="451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36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4959-D1B3-CC1A-0247-74826FEAB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Key Findings: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5E376-8694-7BEC-A462-2A6BC7641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1800" dirty="0"/>
              <a:t>Most safeguarding concerns involve older adults, particularly women.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Only 5.3% of all reported safeguarding concerns progressed to enquiries.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The risk usually comes from someone the concerned individual knows and often happens in their own home.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In many cases, the risk is dealt with, but there are still issues with understanding people’s capacity and what they want to happen.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Older adults (especially 85–94) were less likely to have clear outcomes recorded, indicating a communication or documentation gap in involving them.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There needs to be more focus on making sure people are involved in decisions about their safety: “Don’t know” and “Yes, they lacked capacity” responses are still common across all age groups.</a:t>
            </a:r>
            <a:endParaRPr lang="en-NG" sz="1800" dirty="0"/>
          </a:p>
        </p:txBody>
      </p:sp>
    </p:spTree>
    <p:extLst>
      <p:ext uri="{BB962C8B-B14F-4D97-AF65-F5344CB8AC3E}">
        <p14:creationId xmlns:p14="http://schemas.microsoft.com/office/powerpoint/2010/main" val="3031405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3A93D-9F2D-0B7E-A2F8-AD546D533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1471448"/>
          </a:xfrm>
        </p:spPr>
        <p:txBody>
          <a:bodyPr/>
          <a:lstStyle/>
          <a:p>
            <a:r>
              <a:rPr lang="en-NG" b="1" dirty="0"/>
              <a:t>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984F8-2CB3-ECFC-72BB-D329691F1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9103"/>
            <a:ext cx="10515600" cy="4876799"/>
          </a:xfrm>
        </p:spPr>
        <p:txBody>
          <a:bodyPr>
            <a:normAutofit lnSpcReduction="10000"/>
          </a:bodyPr>
          <a:lstStyle/>
          <a:p>
            <a:r>
              <a:rPr lang="en-GB" sz="1800" dirty="0"/>
              <a:t>Train staff to spot signs of harm or neglect in older women, and prioritise safeguarding efforts for those most at risk.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Review why so few concerns become enquiries and improve decision-making to avoid missing genuine risks.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Equip professionals to detect abuse in family or home settings and create safe channels for individuals to report concerns.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Improve capacity assessment and outcome discussions. Clarify and record decisions about their ability to choose.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Focus on documenting outcomes clearly for people aged 85+. If possible, adapt communication for those with hearing, speech, or memory issues.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Reduce “Don’t know” and unclear capacity responses by providing advocacy and support to help people take part in decisions.</a:t>
            </a:r>
          </a:p>
          <a:p>
            <a:endParaRPr lang="en-GB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110469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8CAC-5646-6BC6-48BE-AB8994BC3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DE7A4-40EA-766E-B65D-508863058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NG" dirty="0"/>
          </a:p>
          <a:p>
            <a:pPr marL="0" indent="0" algn="ctr">
              <a:buNone/>
            </a:pPr>
            <a:r>
              <a:rPr lang="en-NG" dirty="0"/>
              <a:t> </a:t>
            </a:r>
            <a:r>
              <a:rPr lang="en-NG" sz="3200" dirty="0"/>
              <a:t>Questions???</a:t>
            </a:r>
          </a:p>
          <a:p>
            <a:pPr marL="0" indent="0" algn="ctr">
              <a:buNone/>
            </a:pPr>
            <a:endParaRPr lang="en-NG" dirty="0"/>
          </a:p>
          <a:p>
            <a:pPr marL="0" indent="0" algn="ctr">
              <a:buNone/>
            </a:pPr>
            <a:endParaRPr lang="en-NG" dirty="0"/>
          </a:p>
          <a:p>
            <a:pPr marL="0" indent="0" algn="ctr">
              <a:buNone/>
            </a:pPr>
            <a:endParaRPr lang="en-NG" dirty="0"/>
          </a:p>
          <a:p>
            <a:pPr marL="0" indent="0" algn="ctr">
              <a:buNone/>
            </a:pPr>
            <a:endParaRPr lang="en-NG" dirty="0"/>
          </a:p>
          <a:p>
            <a:pPr marL="0" indent="0" algn="ctr">
              <a:buNone/>
            </a:pPr>
            <a:endParaRPr lang="en-NG" dirty="0"/>
          </a:p>
          <a:p>
            <a:pPr marL="0" indent="0" algn="ctr">
              <a:buNone/>
            </a:pPr>
            <a:r>
              <a:rPr lang="en-NG" sz="1800" dirty="0"/>
              <a:t>Name: Victor Kabari KANEE</a:t>
            </a:r>
          </a:p>
          <a:p>
            <a:pPr marL="0" indent="0" algn="ctr">
              <a:buNone/>
            </a:pPr>
            <a:r>
              <a:rPr lang="en-NG" sz="1800" dirty="0"/>
              <a:t>Email: kabarikanee@gmail.com</a:t>
            </a:r>
          </a:p>
        </p:txBody>
      </p:sp>
    </p:spTree>
    <p:extLst>
      <p:ext uri="{BB962C8B-B14F-4D97-AF65-F5344CB8AC3E}">
        <p14:creationId xmlns:p14="http://schemas.microsoft.com/office/powerpoint/2010/main" val="158933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813</Words>
  <Application>Microsoft Macintosh PowerPoint</Application>
  <PresentationFormat>Widescreen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Safeguarding Adults Collection - Key Findings</vt:lpstr>
      <vt:lpstr>Introduction</vt:lpstr>
      <vt:lpstr>Who is Affected? – Demographic Breakdown</vt:lpstr>
      <vt:lpstr>Who is Affected? – Demographic Breakdown</vt:lpstr>
      <vt:lpstr>Who is Affected? – Demographic Breakdown</vt:lpstr>
      <vt:lpstr>Safeguarding Concerns and Enquiries</vt:lpstr>
      <vt:lpstr>What Kind of Risk was Involved?</vt:lpstr>
      <vt:lpstr>Where it Happened? </vt:lpstr>
      <vt:lpstr>Was the Risk Addressed?</vt:lpstr>
      <vt:lpstr>What was the Risk Assessment Outcome?</vt:lpstr>
      <vt:lpstr>Mental Capacity in Concluded Enquiries</vt:lpstr>
      <vt:lpstr>Was Support Provided When an Adult Lacked Capacity?</vt:lpstr>
      <vt:lpstr>Were Individuals Involved in Decisions?</vt:lpstr>
      <vt:lpstr>Were Expressed Desired Outcomes Achievable?</vt:lpstr>
      <vt:lpstr>Key Findings:</vt:lpstr>
      <vt:lpstr>Recommendations: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Safeguarding Adults Collection - Key Findings</dc:title>
  <dc:creator>(pg) Victor Kanee</dc:creator>
  <cp:lastModifiedBy>(pg) Victor Kanee</cp:lastModifiedBy>
  <cp:revision>12</cp:revision>
  <dcterms:created xsi:type="dcterms:W3CDTF">2025-07-20T10:46:29Z</dcterms:created>
  <dcterms:modified xsi:type="dcterms:W3CDTF">2025-10-17T05:49:53Z</dcterms:modified>
</cp:coreProperties>
</file>